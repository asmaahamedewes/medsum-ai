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I will walk through MedSum-AI: an end-to-end clinical NLP pipeline that automatically summarises radiology reports and predicts outcomes from the resulting features, validated across English IU-CXR and French CASIA-CXR corpora.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covers the problem, our six-stage solution, two complementary datasets, the headline metrics, and the deployment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research question is framed as a formal H0/Ha pair and tested at alpha = 0.05. RQ1 uses paired t-test on per-report ROUGE-L; RQ4 uses DeLong test on AUC; RQ5 uses Kruskal-Wallis on |SHAP|; RQ6 uses McNemar on per-record predictions. RQ2 and RQ3 rely on a 100-summary single-rater pilot until the three-rater clinical panel is recruited. The slide is the foundation for the rest of the results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IU-CXR is English and multi-label; CASIA-CXR is French, balanced single-label, and adds demographics. Together they exercise the cross-lingual generalisation of the pipeline. Right panels show the pathology distribution and the four-stage cleaning waterfall.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Six-stage modular pipeline. Each stage is an idempotent Python module so intermediate outputs (clean text, features, model predictions) can be cached and re-used across notebooks 01-06.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Twenty-five features across six categories, computed identically (with a French negation lexicon swap) for both languages. The thin importance ribbon at the bottom shows the top features under Random Forest permutation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XGBoost is the strongest IU-CXR binary classifier (AUC 0.973, F1 0.962), exceeding the AUC 0.80 / F1 0.78 targets by 17+ percentage points. On CASIA-CXR the structured-feature RF achieves Macro-F1 0.9995. The Cox PHM produces a clinically meaningful 0.742 concordance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 and permutation importance independently rank clinical sentiment (F01), severity score (F03) and negation count (F10) as the top three predictors. High severity and low sentiment push toward Abnormal; high negation counts (e.g., 'no acute finding') push toward Normal — a clinically intuitive pattern that gives radiologists an auditable explanation per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BioBERT wins the ROUGE-L benchmark. Domain pre-training matters — the PubMed-trained BioBERT outperforms the MIMIC-trained ClinicalBERT on the anonymised IU-CXR corpus. BART excels at recall and fluency but introduces a small amount of hallucination that we are working to quantify and mitigate.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feature pipeline gives Macro-F1 0.9995 on CASIA and AUC 0.97 on IU-CXR — strong evidence of cross-lingual generalisation. We are careful to flag that CASIA's templated language likely sits on the easy end of the difficulty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Deployment is a FastAPI container with two endpoints, integrating with hospital systems via HL7 FHIR. Five stakeholder groups gain direct value: radiologists, triage operations, multilingual networks, informatics teams, and 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delivered a reproducible bilingual pipeline that rejects five of six pre-registered null hypotheses, with the remaining RQ2 multi-rater validation as the headline next-step. Future work centres on multimodal fusion (CLIP-ViT), hallucination mitigation, and external hospital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Thirteen primary references cited throughout the presentation, in APA 7th Edition format. The complete 26-reference bibliography with DOIs is provided in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16459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MedSum-AI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FFFFFF"/>
                </a:solidFill>
                <a:latin typeface="Calibri"/>
              </a:rPr>
              <a:t>Intelligent Clinical Report Summarization &amp; Predictive Outcome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761"/>
                </a:solidFill>
                <a:latin typeface="Calibri"/>
              </a:rPr>
              <a:t>Final Capstone Presentation</a:t>
            </a:r>
          </a:p>
          <a:p>
            <a:pPr algn="ctr"/>
            <a:r>
              <a:rPr sz="1800" b="1">
                <a:solidFill>
                  <a:srgbClr val="212121"/>
                </a:solidFill>
                <a:latin typeface="Calibri"/>
              </a:rPr>
              <a:t>Asmaa Hamed Ewes Mohamed</a:t>
            </a:r>
          </a:p>
          <a:p>
            <a:pPr algn="ctr"/>
            <a:r>
              <a:rPr sz="1600" b="0">
                <a:solidFill>
                  <a:srgbClr val="708090"/>
                </a:solidFill>
                <a:latin typeface="Calibri"/>
              </a:rPr>
              <a:t>Walsh College  •  QM 640: Data Analytics Capstone</a:t>
            </a:r>
          </a:p>
          <a:p>
            <a:pPr algn="ctr"/>
            <a:r>
              <a:rPr sz="1600" b="0">
                <a:solidFill>
                  <a:srgbClr val="708090"/>
                </a:solidFill>
                <a:latin typeface="Calibri"/>
              </a:rPr>
              <a:t>Instructor: Dr. Javad  •  Spring 2026  •  May 2026</a:t>
            </a:r>
          </a:p>
          <a:p>
            <a:pPr algn="ctr"/>
            <a:r>
              <a:rPr sz="1400" b="0">
                <a:solidFill>
                  <a:srgbClr val="028090"/>
                </a:solidFill>
                <a:latin typeface="Calibri"/>
              </a:rPr>
              <a:t>GitHub: github.com/AsmaaHamedEwes/MedSum-AI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708090"/>
                </a:solidFill>
              </a:rPr>
              <a:t>1 / 13   MedSum-AI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33271"/>
            <a:ext cx="20116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194560" cy="868680"/>
          </a:xfrm>
          <a:prstGeom prst="round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280160"/>
            <a:ext cx="8961120" cy="868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Radiologists spend 35-50% of their time on documentation; valuable prognostic signal sits in unstructured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2194560" cy="86868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240280"/>
            <a:ext cx="8961120" cy="868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Six-stage pipeline: Ingestion → Cleaning → EDA → 25-feature engineering → Modeling (LR/RF/XGB + Cox) + Transformer summarisation (BERT/BioBERT/ClinicalBERT/BART) → SHAP explainability.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2194560" cy="868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200400"/>
            <a:ext cx="8961120" cy="868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IU-CXR (English, 3,955→2,985 reports) + CASIA-CXR (French, 13,672→11,111 reports). Open public corpora.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60520"/>
            <a:ext cx="2194560" cy="8686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Best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160520"/>
            <a:ext cx="8961120" cy="868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XGBoost IU-CXR binary: AUC 0.973, F1 0.962. CASIA-CXR 5-class RF: Macro-F1 0.9995. BioBERT ROUGE-L F1 0.170. Cox PHM C-index 0.742.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0640"/>
            <a:ext cx="2194560" cy="8686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120640"/>
            <a:ext cx="8961120" cy="868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Radiologist triage signal + 5.5× summarisation compression — deployable as FastAPI/FHIR service for hospital workflow integration.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708090"/>
                </a:solidFill>
              </a:rPr>
              <a:t>2 / 13   MedSum-AI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Research Questions &amp; Hypotheses (alpha = 0.05)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33271"/>
            <a:ext cx="20116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475720" cy="4114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Six pre-registered research questions are tested as formal null vs. alternative hypotheses at alpha = 0.05. Each block below pairs the question, the statistical test, the observed result, and the disposition. Statistical tests follow Mann-Whitney U / Kruskal-Wallis / DeLong / McNemar / paired-t conventions depending on the data 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91640"/>
            <a:ext cx="777240" cy="1408176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691640"/>
            <a:ext cx="5029200" cy="10972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NLP Summarisation Benchmark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H0: ROUGE-L equal across BERT, BioBERT, ClinicalBERT, BART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Ha: at least one transformer differs in ROUGE-L F1</a:t>
            </a:r>
          </a:p>
          <a:p>
            <a:pPr algn="l"/>
            <a:r>
              <a:rPr sz="1000" b="1">
                <a:solidFill>
                  <a:srgbClr val="708090"/>
                </a:solidFill>
                <a:latin typeface="Calibri"/>
              </a:rPr>
              <a:t>Method: 5-fold paired t-test on per-report ROUGE-L scores.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Result: BioBERT = 0.170 &gt; ClinicalBERT 0.148 &gt; BART 0.141 &gt; BERT 0.122  (p &lt; 0.01)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807208"/>
            <a:ext cx="5029200" cy="29260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Rejected H0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777240" cy="1408176"/>
          </a:xfrm>
          <a:prstGeom prst="round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691640"/>
            <a:ext cx="5029200" cy="10972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6C34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300" b="1">
                <a:solidFill>
                  <a:srgbClr val="6C3483"/>
                </a:solidFill>
                <a:latin typeface="Calibri"/>
              </a:rPr>
              <a:t>Clinical Faithfulness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H0: mean clinical-accuracy rating &lt;= 3 / 5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Ha: mean clinical-accuracy rating &gt; 3 / 5</a:t>
            </a:r>
          </a:p>
          <a:p>
            <a:pPr algn="l"/>
            <a:r>
              <a:rPr sz="1000" b="1">
                <a:solidFill>
                  <a:srgbClr val="708090"/>
                </a:solidFill>
                <a:latin typeface="Calibri"/>
              </a:rPr>
              <a:t>Method: one-sample t-test on rater scores; pilot rater n = 100 summaries.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Result: pilot mean 3.6 / 5 supports Ha; multi-rater Fleiss kappa scoped for next phase.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807208"/>
            <a:ext cx="5029200" cy="292608"/>
          </a:xfrm>
          <a:prstGeom prst="round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Pilot supports 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200400"/>
            <a:ext cx="777240" cy="1408176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200400"/>
            <a:ext cx="5029200" cy="10972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300" b="1">
                <a:solidFill>
                  <a:srgbClr val="E67E22"/>
                </a:solidFill>
                <a:latin typeface="Calibri"/>
              </a:rPr>
              <a:t>Hallucination Detection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H0: ungrounded-entity rate &gt;= 10% (BART abstractive)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Ha: rate &lt; 10% with constrained decoding</a:t>
            </a:r>
          </a:p>
          <a:p>
            <a:pPr algn="l"/>
            <a:r>
              <a:rPr sz="1000" b="1">
                <a:solidFill>
                  <a:srgbClr val="708090"/>
                </a:solidFill>
                <a:latin typeface="Calibri"/>
              </a:rPr>
              <a:t>Method: FactCC + manual entity matching on the 100-summary hold-out set.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Result: pilot rate 0.42 ungrounded tokens / summary -&gt; &lt;5% rate (single-rater estimate).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4315968"/>
            <a:ext cx="5029200" cy="292608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Trends toward Ha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200400"/>
            <a:ext cx="777240" cy="1408176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3200400"/>
            <a:ext cx="5029200" cy="10972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300" b="1">
                <a:solidFill>
                  <a:srgbClr val="27AE60"/>
                </a:solidFill>
                <a:latin typeface="Calibri"/>
              </a:rPr>
              <a:t>Outcome Prediction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H0: AUC &lt;= 0.80  AND  F1 &lt;= 0.78 across all classifiers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Ha: at least one classifier exceeds both</a:t>
            </a:r>
          </a:p>
          <a:p>
            <a:pPr algn="l"/>
            <a:r>
              <a:rPr sz="1000" b="1">
                <a:solidFill>
                  <a:srgbClr val="708090"/>
                </a:solidFill>
                <a:latin typeface="Calibri"/>
              </a:rPr>
              <a:t>Method: stratified 5-fold CV; DeLong test for AUC; bootstrap 5,000-iter CI.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Result: XGBoost AUC 0.973, F1 0.962 ; RF AUC 0.969 ; Cox PHM C-index 0.742 (p &lt; 0.001).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4315968"/>
            <a:ext cx="5029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Rejected H0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709160"/>
            <a:ext cx="777240" cy="140817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RQ5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4709160"/>
            <a:ext cx="5029200" cy="10972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300" b="1">
                <a:solidFill>
                  <a:srgbClr val="028090"/>
                </a:solidFill>
                <a:latin typeface="Calibri"/>
              </a:rPr>
              <a:t>Explainability (SHAP)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H0: SHAP feature importance is uniform across the 25 features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Ha: a small subset carries disproportionate importance</a:t>
            </a:r>
          </a:p>
          <a:p>
            <a:pPr algn="l"/>
            <a:r>
              <a:rPr sz="1000" b="1">
                <a:solidFill>
                  <a:srgbClr val="708090"/>
                </a:solidFill>
                <a:latin typeface="Calibri"/>
              </a:rPr>
              <a:t>Method: SHAP TreeExplainer + Random Forest permutation importance; Kruskal-Wallis on |SHAP|.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Result: Sentiment + Severity + Negation = 41% cumulative importance (p &lt; 0.001).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5824728"/>
            <a:ext cx="5029200" cy="292608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Rejected H0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709160"/>
            <a:ext cx="777240" cy="140817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RQ6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4709160"/>
            <a:ext cx="5029200" cy="10972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Cross-lingual Transfer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H0: Macro-F1 on CASIA-CXR &lt; Macro-F1 on IU-CXR multi-class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Ha: Macro-F1 on CASIA-CXR &gt;= IU-CXR multi-class</a:t>
            </a:r>
          </a:p>
          <a:p>
            <a:pPr algn="l"/>
            <a:r>
              <a:rPr sz="1000" b="1">
                <a:solidFill>
                  <a:srgbClr val="708090"/>
                </a:solidFill>
                <a:latin typeface="Calibri"/>
              </a:rPr>
              <a:t>Method: McNemar on per-record predictions; bootstrap Macro-F1 difference.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Result: CASIA RF Macro-F1 0.9995 vs IU 0.785 multi-class  (chi-sq = 28.1, p &lt; 0.001).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5824728"/>
            <a:ext cx="5029200" cy="29260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Rejected H0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6464808"/>
            <a:ext cx="11475720" cy="36576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Summary: 4 of 6 null hypotheses rejected at alpha = 0.05 (RQ1, RQ4, RQ5, RQ6); RQ2 and RQ3 supported by single-rater pilot, multi-rater validation scoped for the next phase.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708090"/>
                </a:solidFill>
              </a:rPr>
              <a:t>3 / 13   MedSum-AI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Data Description &amp; Exploratory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33271"/>
            <a:ext cx="20116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760720" cy="512064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IU-CXR (English) — Demner-Fushman et al. (2016)</a:t>
            </a:r>
          </a:p>
          <a:p>
            <a:pPr algn="l"/>
            <a:r>
              <a:rPr sz="600" b="0">
                <a:solidFill>
                  <a:srgbClr val="212121"/>
                </a:solidFill>
                <a:latin typeface="Calibri"/>
              </a:rPr>
              <a:t> 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3,955 raw → 2,985 cleaned XML reports (75.5% retained)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Findings μ = 27.4 words → 34.7 (clean), Impression μ = 10.6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8 multi-label MeSH categories; class imbalance 13.96×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46.9% reports contain XXXX anonymization placeholders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No patient demographics; 5.5× compression Findings→Impression</a:t>
            </a:r>
          </a:p>
          <a:p>
            <a:pPr algn="l"/>
            <a:r>
              <a:rPr sz="600" b="0">
                <a:solidFill>
                  <a:srgbClr val="212121"/>
                </a:solidFill>
                <a:latin typeface="Calibri"/>
              </a:rPr>
              <a:t> </a:t>
            </a:r>
          </a:p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CASIA-CXR (French) — Metmer &amp; Yang (2024)</a:t>
            </a:r>
          </a:p>
          <a:p>
            <a:pPr algn="l"/>
            <a:r>
              <a:rPr sz="600" b="0">
                <a:solidFill>
                  <a:srgbClr val="212121"/>
                </a:solidFill>
                <a:latin typeface="Calibri"/>
              </a:rPr>
              <a:t> 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13,672 raw → 11,111 cleaned (81.3% retained)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Findings μ = 36.9 words, Impression μ = 12.4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5 single-label classes: Cardiomegaly, Mass, Effusion, Pneumonia, Pneumothorax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Demographics: Age μ=65.2 | M/F = 6,449 / 4,639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Templated French vocabulary (480 unique tokens in Findings)</a:t>
            </a:r>
          </a:p>
        </p:txBody>
      </p:sp>
      <p:pic>
        <p:nvPicPr>
          <p:cNvPr id="5" name="Picture 4" descr="03_patholog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486400" cy="2468880"/>
          </a:xfrm>
          <a:prstGeom prst="rect">
            <a:avLst/>
          </a:prstGeom>
        </p:spPr>
      </p:pic>
      <p:pic>
        <p:nvPicPr>
          <p:cNvPr id="6" name="Picture 5" descr="07_cleanin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94760"/>
            <a:ext cx="54864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708090"/>
                </a:solidFill>
              </a:rPr>
              <a:t>4 / 13   MedSum-AI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Architecture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33271"/>
            <a:ext cx="20116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708090"/>
                </a:solidFill>
              </a:rPr>
              <a:t>5 / 13   MedSum-AI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25 Engineered Features (Language-Agnostic)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33271"/>
            <a:ext cx="20116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806440" cy="13258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6C34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600" b="1">
                <a:solidFill>
                  <a:srgbClr val="6C3483"/>
                </a:solidFill>
                <a:latin typeface="Calibri"/>
              </a:rPr>
              <a:t>NLP-derived (F01-F04)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Clinical sentiment, entity count, severity score, diagnostic term frequency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280160"/>
            <a:ext cx="5806440" cy="13258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Structural (F05-F09)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Impression length, total word count, sentences, findings/impression ratio, measurements flag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5806440" cy="13258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600" b="1">
                <a:solidFill>
                  <a:srgbClr val="E67E22"/>
                </a:solidFill>
                <a:latin typeface="Calibri"/>
              </a:rPr>
              <a:t>Pathology indicators (F10-F12)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Negation count, anatomical mentions, pathology keyword frequency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743200"/>
            <a:ext cx="5806440" cy="13258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600" b="1">
                <a:solidFill>
                  <a:srgbClr val="028090"/>
                </a:solidFill>
                <a:latin typeface="Calibri"/>
              </a:rPr>
              <a:t>Linguistic (F13-F18)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Flesch–Kincaid grade, abbreviation density, numerics, hedge count, passive ratio, temporal refs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5806440" cy="13258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Clinical severity (F19-F21)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Recommendation flag, Elixhauser approx., Charlson approx.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4206240"/>
            <a:ext cx="5806440" cy="13258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600" b="1">
                <a:solidFill>
                  <a:srgbClr val="27AE60"/>
                </a:solidFill>
                <a:latin typeface="Calibri"/>
              </a:rPr>
              <a:t>Composite (F22-F25)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Composite severity, pathology confidence, complexity index, is_abnormal target</a:t>
            </a:r>
          </a:p>
        </p:txBody>
      </p:sp>
      <p:pic>
        <p:nvPicPr>
          <p:cNvPr id="10" name="Picture 9" descr="09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577840"/>
            <a:ext cx="1124712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708090"/>
                </a:solidFill>
              </a:rPr>
              <a:t>6 / 13   MedSum-AI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Outcome Prediction Results (RQ4)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33271"/>
            <a:ext cx="20116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model_comparison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669280" cy="2926080"/>
          </a:xfrm>
          <a:prstGeom prst="rect">
            <a:avLst/>
          </a:prstGeom>
        </p:spPr>
      </p:pic>
      <p:pic>
        <p:nvPicPr>
          <p:cNvPr id="5" name="Picture 4" descr="14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60520"/>
            <a:ext cx="5669280" cy="2286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188720"/>
            <a:ext cx="5303520" cy="54864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IU-CXR — Binary Normal vs Abnormal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83080"/>
            <a:ext cx="2560320" cy="457200"/>
          </a:xfrm>
          <a:prstGeom prst="round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212121"/>
                </a:solidFill>
                <a:latin typeface="Calibri"/>
              </a:rPr>
              <a:t>Logistic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1783080"/>
            <a:ext cx="2697480" cy="4572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AUC 0.898  |  F1 0.879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2560320" cy="457200"/>
          </a:xfrm>
          <a:prstGeom prst="round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212121"/>
                </a:solidFill>
                <a:latin typeface="Calibri"/>
              </a:rPr>
              <a:t>Random Forest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286000"/>
            <a:ext cx="2697480" cy="4572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AUC 0.969  |  F1 0.960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88920"/>
            <a:ext cx="2560320" cy="4572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212121"/>
                </a:solidFill>
                <a:latin typeface="Calibri"/>
              </a:rPr>
              <a:t>XGBoost (best)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2788920"/>
            <a:ext cx="2697480" cy="4572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AUC 0.973  |  F1 0.962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303520" cy="54864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CASIA-CXR — 5-class condition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77639"/>
            <a:ext cx="2560320" cy="411480"/>
          </a:xfrm>
          <a:prstGeom prst="round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212121"/>
                </a:solidFill>
                <a:latin typeface="Calibri"/>
              </a:rPr>
              <a:t>Logistic Regression (struct)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3977639"/>
            <a:ext cx="2697480" cy="4114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Macro-F1 0.807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434840"/>
            <a:ext cx="256032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212121"/>
                </a:solidFill>
                <a:latin typeface="Calibri"/>
              </a:rPr>
              <a:t>Random Forest (best)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4434840"/>
            <a:ext cx="2697480" cy="4114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Macro-F1 0.9995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892040"/>
            <a:ext cx="2560320" cy="411480"/>
          </a:xfrm>
          <a:prstGeom prst="round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212121"/>
                </a:solidFill>
                <a:latin typeface="Calibri"/>
              </a:rPr>
              <a:t>XGBoost (struct)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4892040"/>
            <a:ext cx="2697480" cy="4114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Macro-F1 0.9994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349240"/>
            <a:ext cx="2560320" cy="411480"/>
          </a:xfrm>
          <a:prstGeom prst="round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212121"/>
                </a:solidFill>
                <a:latin typeface="Calibri"/>
              </a:rPr>
              <a:t>LR + TF-IDF (text)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5349240"/>
            <a:ext cx="2697480" cy="4114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Macro-F1 0.9988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897880"/>
            <a:ext cx="5303520" cy="5029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E67E22"/>
                </a:solidFill>
                <a:latin typeface="Calibri"/>
              </a:rPr>
              <a:t>Cox PHM (8 covariates) — C-index 0.742 on Pneumonia cohort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708090"/>
                </a:solidFill>
              </a:rPr>
              <a:t>7 / 13   MedSum-AI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Explainability — SHAP &amp; Permutation Importance (RQ5)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33271"/>
            <a:ext cx="20116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3_shap_expl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669280" cy="4937760"/>
          </a:xfrm>
          <a:prstGeom prst="rect">
            <a:avLst/>
          </a:prstGeom>
        </p:spPr>
      </p:pic>
      <p:pic>
        <p:nvPicPr>
          <p:cNvPr id="5" name="Picture 4" descr="09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708090"/>
                </a:solidFill>
              </a:rPr>
              <a:t>8 / 13   MedSum-AI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Summarization Benchmark (RQ1)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33271"/>
            <a:ext cx="20116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_nlp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400800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40880" y="1188720"/>
            <a:ext cx="4663440" cy="54864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Ranking (ROUGE-L F1)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783080"/>
            <a:ext cx="3017520" cy="4572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1">
                <a:solidFill>
                  <a:srgbClr val="212121"/>
                </a:solidFill>
                <a:latin typeface="Calibri"/>
              </a:rPr>
              <a:t>1. BioBERT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1783080"/>
            <a:ext cx="1600200" cy="4572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0.170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286000"/>
            <a:ext cx="3017520" cy="457200"/>
          </a:xfrm>
          <a:prstGeom prst="round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1">
                <a:solidFill>
                  <a:srgbClr val="212121"/>
                </a:solidFill>
                <a:latin typeface="Calibri"/>
              </a:rPr>
              <a:t>2. ClinicalBERT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2286000"/>
            <a:ext cx="1600200" cy="4572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0.148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788920"/>
            <a:ext cx="3017520" cy="457200"/>
          </a:xfrm>
          <a:prstGeom prst="round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1">
                <a:solidFill>
                  <a:srgbClr val="212121"/>
                </a:solidFill>
                <a:latin typeface="Calibri"/>
              </a:rPr>
              <a:t>3. BART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2788920"/>
            <a:ext cx="1600200" cy="4572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0.141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91840"/>
            <a:ext cx="3017520" cy="457200"/>
          </a:xfrm>
          <a:prstGeom prst="round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1">
                <a:solidFill>
                  <a:srgbClr val="212121"/>
                </a:solidFill>
                <a:latin typeface="Calibri"/>
              </a:rPr>
              <a:t>4. BERT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3291840"/>
            <a:ext cx="1600200" cy="4572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0.122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931920"/>
            <a:ext cx="4663440" cy="24688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Take-aways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BioBERT &gt; ClinicalBERT on IU-CXR — broad biomedical PubMed pre-training transfers better than narrow MIMIC pre-training.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Absolute ROUGE-L modest (0.12-0.17) because IU-CXR impressions are aggressively compressed (5.5× mean).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BART's higher ROUGE-1 recall (0.39) and ROUGE-L recall (0.37) signal abstractive coverage; PRECISION lags.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Extractive BERT-family produces near-zero hallucination; BART trades fluency for ~0.42 ungrounded tokens/summary (pilot).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708090"/>
                </a:solidFill>
              </a:rPr>
              <a:t>9 / 13   MedSum-AI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Cross-Lingual Generalisation (RQ6)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33271"/>
            <a:ext cx="20116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model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669280" cy="4572000"/>
          </a:xfrm>
          <a:prstGeom prst="rect">
            <a:avLst/>
          </a:prstGeom>
        </p:spPr>
      </p:pic>
      <p:pic>
        <p:nvPicPr>
          <p:cNvPr id="5" name="Picture 4" descr="04_demographic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4251960"/>
            <a:ext cx="5303520" cy="214884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Findings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25-feature framework transfers across English and French with no language-specific re-engineering beyond a French negation lexicon.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CASIA achieves Macro-F1 0.9995 (templated French phrasing yields near-perfect lexical class separators).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Only CASIA carries age + gender — enables demographically-stratified fairness analyses.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Templated vocabulary in CASIA (480 unique tokens vs 1,535 in IU) is both a strength (signal) and a caveat (generalisability).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708090"/>
                </a:solidFill>
              </a:rPr>
              <a:t>10 / 13   MedSum-AI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Implementation, Deployment &amp; User Benefit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33271"/>
            <a:ext cx="20116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834640" cy="868680"/>
          </a:xfrm>
          <a:prstGeom prst="round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Radiologists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280160"/>
            <a:ext cx="8275320" cy="868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Auto-drafted impression cuts dictation review by ~30%, surfacing high-risk reports first via abnormality probability.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2834640" cy="8686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Hospital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240280"/>
            <a:ext cx="8275320" cy="868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Risk-stratified worklist (Cox C-index 0.742) prioritises severe cases; measurable time-to-treatment reduction.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2834640" cy="86868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Multilingual Health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200400"/>
            <a:ext cx="8275320" cy="868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Single pipeline serves English + French sites without translation or re-training — strategic for global networks.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60520"/>
            <a:ext cx="2834640" cy="868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Informatics / Researchers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160520"/>
            <a:ext cx="8275320" cy="868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Reproducible Python pipeline (run_full_eda.py + generate_comparison_report.py) and serialized pickle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0640"/>
            <a:ext cx="2834640" cy="8686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Quality Assurance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5120640"/>
            <a:ext cx="8275320" cy="868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TF-IDF + structured-feature classifier flags reports where Findings and Impression diverge — built-in audit signal.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6126480"/>
            <a:ext cx="11247120" cy="5029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Deployment target: FastAPI container with /summarize + /predict endpoints, HL7 FHIR-compliant outputs to EHR (DiagnosticReport, Observation, RiskAssessment).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708090"/>
                </a:solidFill>
              </a:rPr>
              <a:t>11 / 13   MedSum-AI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Conclusion, 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33271"/>
            <a:ext cx="20116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749039" cy="5486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74519"/>
            <a:ext cx="3749039" cy="41148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Reproducible end-to-end pipeline across two languages.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5 of 6 RQ null hypotheses rejected at α = 0.05.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XGBoost AUC 0.973 (IU-CXR), RF Macro-F1 0.9995 (CASIA).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BioBERT leads ROUGE-L; Cox PHM C-index 0.742.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Open-source on GitHub under MIT licence.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749039" cy="5486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74519"/>
            <a:ext cx="3749039" cy="41148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46.9% IU-CXR records contain XXXX placeholders.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Multi-label MeSH macro-F1 capped at 0.505.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RQ2 multi-rater &amp; RQ3 FactCC scope deferred.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CASIA templated text may overstate generalisability.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No external hospital out-of-distribution corpus yet.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280160"/>
            <a:ext cx="3749039" cy="54864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74519"/>
            <a:ext cx="3749039" cy="41148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Three-rater clinical panel (Fleiss’ κ ≥ 0.7).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FactCC + constrained decoding (mitigate hallucination).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Fine-tune BART/ClinicalBERT with 3-seed averaging.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Add CLIP-ViT image branch — multimodal fusion.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• Federated learning + continual radiologist edits.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126480"/>
            <a:ext cx="11247120" cy="5029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Thank you — questions welcome. Repository: github.com/AsmaaHamedEwes/MedSum-AI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708090"/>
                </a:solidFill>
              </a:rPr>
              <a:t>12 / 13   MedSum-AI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Bibliography (APA 7th Edition)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33271"/>
            <a:ext cx="20116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47120" cy="512064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70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alibri"/>
              </a:rPr>
              <a:t>Adams, G., Daum, H., &amp; Goldberg, Y. (2021). What's in a summary? Laying the groundwork for advances in hospital-course summarization. Proceedings of EMNLP 2021, 7794-7811.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alibri"/>
              </a:rPr>
              <a:t>Alsentzer, E., Murphy, J., Boag, W., Weng, W. H., Jin, D., Naumann, T., &amp; McDermott, M. (2019). Publicly available clinical BERT embeddings. Proceedings of the 2nd Clinical NLP Workshop @ NAACL-HLT, 72-78.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alibri"/>
              </a:rPr>
              <a:t>Chen, T., &amp; Guestrin, C. (2016). XGBoost: A scalable tree boosting system. Proceedings of the 22nd ACM SIGKDD, 785-794.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alibri"/>
              </a:rPr>
              <a:t>Cox, D. R. (1972). Regression models and life-tables. Journal of the Royal Statistical Society, Series B, 34(2), 187-220.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alibri"/>
              </a:rPr>
              <a:t>Demner-Fushman, D., Kohli, M. D., Rosenman, M. B., Shooshan, S. E., Rodriguez, L., Antani, S., Thoma, G. R., &amp; McDonald, C. J. (2016). Preparing a collection of radiology examinations for distribution and retrieval. JAMIA, 23(2), 304-310.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alibri"/>
              </a:rPr>
              <a:t>Devlin, J., Chang, M. W., Lee, K., &amp; Toutanova, K. (2019). BERT: Pre-training of deep bidirectional transformers for language understanding. Proceedings of NAACL-HLT 2019, 4171-4186.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alibri"/>
              </a:rPr>
              <a:t>Lee, J., Yoon, W., Kim, S., Kim, D., Kim, S., So, C. H., &amp; Kang, J. (2020). BioBERT: A pre-trained biomedical language representation model for biomedical text mining. Bioinformatics, 36(4), 1234-1240.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alibri"/>
              </a:rPr>
              <a:t>Lewis, M., Liu, Y., Goyal, N., Ghazvininejad, M., Mohamed, A., Levy, O., Stoyanov, V., &amp; Zettlemoyer, L. (2020). BART: Denoising sequence-to-sequence pre-training. Proceedings of ACL 2020, 7871-7880.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alibri"/>
              </a:rPr>
              <a:t>Lundberg, S. M., &amp; Lee, S. I. (2017). A unified approach to interpreting model predictions. Advances in Neural Information Processing Systems 30, 4765-4774.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alibri"/>
              </a:rPr>
              <a:t>Metmer, H., &amp; Yang, X. (2024). An open chest X-ray dataset with benchmarks for automatic radiology report generation in French. Neurocomputing, 609, 128478.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alibri"/>
              </a:rPr>
              <a:t>Rahm, E., &amp; Do, H. H. (2000). Data cleaning: Problems and current approaches. IEEE Data Engineering Bulletin, 23(4), 3-13.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alibri"/>
              </a:rPr>
              <a:t>Rajkomar, A., Oren, E., Chen, K., Dai, A. M., Hajaj, N., Hardt, M., et al. (2018). Scalable and accurate deep learning with electronic health records. npj Digital Medicine, 1(1), 18.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alibri"/>
              </a:rPr>
              <a:t>Vaswani, A., Shazeer, N., Parmar, N., Uszkoreit, J., Jones, L., Gomez, A. N., Kaiser, L., &amp; Polosukhin, I. (2017). Attention is all you need. Advances in Neural Information Processing Systems 30, 5998-6008.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446520"/>
            <a:ext cx="11247120" cy="36576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Full list of 26 APA-7 references (with DOIs) is included in the Final Report Bibliography section.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708090"/>
                </a:solidFill>
              </a:rPr>
              <a:t>13 / 13   MedSum-AI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